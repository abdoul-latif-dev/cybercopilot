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6B6D4"/>
                </a:solidFill>
              </a:rPr>
              <a:t>🛡️ CyberCopilot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Votre copilote SOC en français.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</a:rPr>
              <a:t>Assistant SOC intelligent basé sur les modèles de langage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</a:rPr>
              <a:t>Projet B2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9"/>
                </a:solidFill>
              </a:rPr>
              <a:t>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4748B"/>
                </a:solidFill>
              </a:rPr>
              <a:t>Les SOC sont saturés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6B6D4"/>
                </a:solidFill>
              </a:rPr>
              <a:t>+5000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</a:rPr>
              <a:t>alertes par jour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97316"/>
                </a:solidFill>
              </a:rPr>
              <a:t>80 %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</a:rPr>
              <a:t>de faux positifs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EF4444"/>
                </a:solidFill>
              </a:rPr>
              <a:t>15 000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</a:rPr>
              <a:t>experts manquants en France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F1729"/>
                </a:solidFill>
              </a:rPr>
              <a:t>Résultat : des incidents critiques passent inaperçus, et les analystes s'épuisent.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9"/>
                </a:solidFill>
              </a:rPr>
              <a:t>Notre 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64748B"/>
                </a:solidFill>
              </a:rPr>
              <a:t>PME et ETI françaises sans SOC interne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3474720" cy="3200400"/>
          </a:xfrm>
          <a:prstGeom prst="round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6B6D4"/>
                </a:solidFill>
              </a:rPr>
              <a:t>PME françaises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150 000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</a:rPr>
              <a:t>Très exposées, peu protégées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560320"/>
            <a:ext cx="3474720" cy="3200400"/>
          </a:xfrm>
          <a:prstGeom prst="round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6B6D4"/>
                </a:solidFill>
              </a:rPr>
              <a:t>ETI françaises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4747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5 000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754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</a:rPr>
              <a:t>Besoin de SOC managé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560320"/>
            <a:ext cx="3474720" cy="3200400"/>
          </a:xfrm>
          <a:prstGeom prst="round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6B6D4"/>
                </a:solidFill>
              </a:rPr>
              <a:t>Secteur public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747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300+ OIV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754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</a:rPr>
              <a:t>Soumis à NIS2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6B6D4"/>
                </a:solidFill>
              </a:rPr>
              <a:t>Notre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Un copilote IA pour analystes SOC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Logs bruts  →  Détection auto  →  Enrichissement IA  →  Résumé + Actions  →  Analyste décide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6B6D4"/>
                </a:solidFill>
              </a:rPr>
              <a:t>« De 1 000 logs bruts à 1 décision claire en 5 secondes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🚀 5× plus rapide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5303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🎯 80 % faux positifs filtrés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5303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🔐 RGPD compliant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5303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🇫🇷 100 % francophone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9"/>
                </a:solidFill>
              </a:rPr>
              <a:t>Le produit en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144000" cy="5029200"/>
          </a:xfrm>
          <a:prstGeom prst="roundRect">
            <a:avLst/>
          </a:prstGeom>
          <a:solidFill>
            <a:srgbClr val="0F1729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</a:rPr>
              <a:t>🔴 INCIDENT #42 — CRITIQUE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Type      : Brute Force SSH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IP source : 218.92.0.220 (Chine — malicious — APT)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Période   : 03/06/2026 23:47 → 23:48 (15 secondes)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Volume    : 10 tentatives échouées sur root et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RÉSUMÉ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</a:rPr>
              <a:t>Attaque coordonnée depuis une IP chinoise identifiée comme APT.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212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ACTIONS : 1. Bloquer IP  2. Vérifier accès root  3. Activer fail2ban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9"/>
                </a:solidFill>
              </a:rPr>
              <a:t>Architecture modulaire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</a:rPr>
              <a:t>Pipeline en 6 modules indépendants — extensible, testable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1737360" cy="1828800"/>
          </a:xfrm>
          <a:prstGeom prst="round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6B6D4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Parser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2E8F0"/>
                </a:solidFill>
              </a:rPr>
              <a:t>4 formats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286000"/>
            <a:ext cx="1737360" cy="1828800"/>
          </a:xfrm>
          <a:prstGeom prst="round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4688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6B6D4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017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Détecteur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566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2E8F0"/>
                </a:solidFill>
              </a:rPr>
              <a:t>6 attaques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286000"/>
            <a:ext cx="1737360" cy="1828800"/>
          </a:xfrm>
          <a:prstGeom prst="round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4688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6B6D4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17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Enrichisseur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566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2E8F0"/>
                </a:solidFill>
              </a:rPr>
              <a:t>Géoloc + IoC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286000"/>
            <a:ext cx="1737360" cy="1828800"/>
          </a:xfrm>
          <a:prstGeom prst="round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4688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6B6D4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017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566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2E8F0"/>
                </a:solidFill>
              </a:rPr>
              <a:t>OpenAI/Mistral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2286000"/>
            <a:ext cx="1737360" cy="1828800"/>
          </a:xfrm>
          <a:prstGeom prst="round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59" y="24688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6B6D4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3017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Stockage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3566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2E8F0"/>
                </a:solidFill>
              </a:rPr>
              <a:t>SQLite + RGPD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2286000"/>
            <a:ext cx="1737360" cy="1828800"/>
          </a:xfrm>
          <a:prstGeom prst="round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24688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6B6D4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017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3566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2E8F0"/>
                </a:solidFill>
              </a:rPr>
              <a:t>CLI + Web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9"/>
                </a:solidFill>
              </a:rPr>
              <a:t>92 tests pytest · Architecture éprouvée · Mode dégradé automatique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9"/>
                </a:solidFill>
              </a:rPr>
              <a:t>Une journée d'analyste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</a:rPr>
              <a:t>AVANT CyberCopilot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❌ 200 alertes à trier manuellement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❌ 4h pour analyser 1 incident complexe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❌ 80 % de faux positifs traités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❌ Décisions sous stress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❌ Incidents critiques manqués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</a:rPr>
              <a:t>AVEC CyberCopilot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✅ Tri automatique par priorité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✅ Résumé en 5 secondes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✅ Faux positifs filtrés à 80 %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✅ Recommandations contextuelles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✅ Focus sur les vrais incidents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9"/>
                </a:solidFill>
              </a:rPr>
              <a:t>Avantage concurrentiel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2743200" cy="548640"/>
          </a:xfrm>
          <a:prstGeom prst="rect">
            <a:avLst/>
          </a:prstGeom>
          <a:solidFill>
            <a:srgbClr val="0F172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Critère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645920"/>
            <a:ext cx="2743200" cy="548640"/>
          </a:xfrm>
          <a:prstGeom prst="rect">
            <a:avLst/>
          </a:prstGeom>
          <a:solidFill>
            <a:srgbClr val="0F172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Microsoft Copilot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2743200" cy="548640"/>
          </a:xfrm>
          <a:prstGeom prst="rect">
            <a:avLst/>
          </a:prstGeom>
          <a:solidFill>
            <a:srgbClr val="0F172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Sekoia (FR)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645920"/>
            <a:ext cx="2743200" cy="548640"/>
          </a:xfrm>
          <a:prstGeom prst="rect">
            <a:avLst/>
          </a:prstGeom>
          <a:solidFill>
            <a:srgbClr val="0F172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CyberCopilot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4028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9"/>
                </a:solidFill>
              </a:rPr>
              <a:t>Prix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24028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240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9"/>
                </a:solidFill>
              </a:rPr>
              <a:t>4€/msg + licences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24028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240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9"/>
                </a:solidFill>
              </a:rPr>
              <a:t>~1 500€/mois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240280"/>
            <a:ext cx="2743200" cy="548640"/>
          </a:xfrm>
          <a:prstGeom prst="rect">
            <a:avLst/>
          </a:prstGeom>
          <a:solidFill>
            <a:srgbClr val="06B6D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240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99-1 999€/mois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83464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9"/>
                </a:solidFill>
              </a:rPr>
              <a:t>Cible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283464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9"/>
                </a:solidFill>
              </a:rPr>
              <a:t>Grands comptes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83464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9"/>
                </a:solidFill>
              </a:rPr>
              <a:t>ETI/MSSP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834640"/>
            <a:ext cx="2743200" cy="548640"/>
          </a:xfrm>
          <a:prstGeom prst="rect">
            <a:avLst/>
          </a:prstGeom>
          <a:solidFill>
            <a:srgbClr val="06B6D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PME/ETI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42900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429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9"/>
                </a:solidFill>
              </a:rPr>
              <a:t>Souveraineté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342900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429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9"/>
                </a:solidFill>
              </a:rPr>
              <a:t>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42900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429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9"/>
                </a:solidFill>
              </a:rPr>
              <a:t>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3429000"/>
            <a:ext cx="2743200" cy="548640"/>
          </a:xfrm>
          <a:prstGeom prst="rect">
            <a:avLst/>
          </a:prstGeom>
          <a:solidFill>
            <a:srgbClr val="06B6D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429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02336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9"/>
                </a:solidFill>
              </a:rPr>
              <a:t>Indépendant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402336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9"/>
                </a:solidFill>
              </a:rPr>
              <a:t>❌ Azure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02336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9"/>
                </a:solidFill>
              </a:rPr>
              <a:t>❌ Sekoia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4023360"/>
            <a:ext cx="2743200" cy="548640"/>
          </a:xfrm>
          <a:prstGeom prst="rect">
            <a:avLst/>
          </a:prstGeom>
          <a:solidFill>
            <a:srgbClr val="06B6D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✅ Multi-SIEM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61772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4617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729"/>
                </a:solidFill>
              </a:rPr>
              <a:t>Francophone natif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0" y="461772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0" y="4617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9"/>
                </a:solidFill>
              </a:rPr>
              <a:t>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4617720"/>
            <a:ext cx="2743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4617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F1729"/>
                </a:solidFill>
              </a:rPr>
              <a:t>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4617720"/>
            <a:ext cx="2743200" cy="548640"/>
          </a:xfrm>
          <a:prstGeom prst="rect">
            <a:avLst/>
          </a:prstGeom>
          <a:solidFill>
            <a:srgbClr val="06B6D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0" y="4617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6B6D4"/>
                </a:solidFill>
              </a:rPr>
              <a:t>Validation technique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6B6D4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F1729"/>
                </a:solidFill>
              </a:rPr>
              <a:t>tests pytest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1031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6B6D4"/>
                </a:solidFill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F1729"/>
                </a:solidFill>
              </a:rPr>
              <a:t>formats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1031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6B6D4"/>
                </a:solidFill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F1729"/>
                </a:solidFill>
              </a:rPr>
              <a:t>types attaques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6B6D4"/>
                </a:solidFill>
              </a:rPr>
              <a:t>94 %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F1729"/>
                </a:solidFill>
              </a:rPr>
              <a:t>tokens économisés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93192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4206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6B6D4"/>
                </a:solidFill>
              </a:rPr>
              <a:t>&lt; 0,1s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2120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F1729"/>
                </a:solidFill>
              </a:rPr>
              <a:t>exécution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93192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206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6B6D4"/>
                </a:solidFill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2120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F1729"/>
                </a:solidFill>
              </a:rPr>
              <a:t>modules Python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9"/>
                </a:solidFill>
              </a:rPr>
              <a:t>Le marché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</a:rPr>
              <a:t>Cybersécurité en France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474720" cy="21031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4 Md€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Marché 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286000"/>
            <a:ext cx="3474720" cy="21031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4688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+10 %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Croissance/an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286000"/>
            <a:ext cx="3474720" cy="21031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688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400 M€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Outils SOC +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729"/>
                </a:solidFill>
              </a:rPr>
              <a:t>Plan France 2030 : 1 Md€ pour la cybersécurité · NIS2 : 100 000 entités concernées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9"/>
                </a:solidFill>
              </a:rPr>
              <a:t>Business model SaaS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474720" cy="4389120"/>
          </a:xfrm>
          <a:prstGeom prst="round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99 € / mois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</a:rPr>
              <a:t>TPE / petite PME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10 Go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1 utilisateur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Support 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645920"/>
            <a:ext cx="3474720" cy="43891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499 € / mois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</a:rPr>
              <a:t>PME / ETI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100 Go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5 utilisateurs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754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Support prioritaire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Mode 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645920"/>
            <a:ext cx="3474720" cy="4389120"/>
          </a:xfrm>
          <a:prstGeom prst="round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774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1 999 € / mois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2E8F0"/>
                </a:solidFill>
              </a:rPr>
              <a:t>Grand compte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Volume illimité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389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LLM dédié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754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SLA 24/7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✓ Accompagnement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9"/>
                </a:solidFill>
              </a:rPr>
              <a:t>Projections financières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</a:rPr>
              <a:t>Sur 3 ans, modèle SaaS B2B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474720" cy="3657600"/>
          </a:xfrm>
          <a:prstGeom prst="roundRect">
            <a:avLst/>
          </a:prstGeom>
          <a:solidFill>
            <a:srgbClr val="0F1729"/>
          </a:solidFill>
          <a:ln w="381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</a:rPr>
              <a:t>Année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25 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150 k€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</a:rPr>
              <a:t>CA annuel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</a:rPr>
              <a:t>-174 k€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103120"/>
            <a:ext cx="3474720" cy="3657600"/>
          </a:xfrm>
          <a:prstGeom prst="roundRect">
            <a:avLst/>
          </a:prstGeom>
          <a:solidFill>
            <a:srgbClr val="0F1729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</a:rPr>
              <a:t>Année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926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80 clients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8404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480 k€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</a:rPr>
              <a:t>CA annuel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5120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97316"/>
                </a:solidFill>
              </a:rPr>
              <a:t>-60 k€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103120"/>
            <a:ext cx="3474720" cy="3657600"/>
          </a:xfrm>
          <a:prstGeom prst="roundRect">
            <a:avLst/>
          </a:prstGeom>
          <a:solidFill>
            <a:srgbClr val="0F1729"/>
          </a:solidFill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286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</a:rPr>
              <a:t>Année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926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150 clients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404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900 k€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572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</a:rPr>
              <a:t>CA annuel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5120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C55E"/>
                </a:solidFill>
              </a:rPr>
              <a:t>+120 k€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F1729"/>
                </a:solidFill>
              </a:rPr>
              <a:t>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</a:rPr>
              <a:t>4 étudiants B2 · 1 projet · Complémentarité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697480" cy="3657600"/>
          </a:xfrm>
          <a:prstGeom prst="round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560320"/>
            <a:ext cx="868680" cy="868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Abdoul-Latif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6B6D4"/>
                </a:solidFill>
              </a:rPr>
              <a:t>Lead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</a:rPr>
              <a:t>Python · LLM · Git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2286000"/>
            <a:ext cx="2697480" cy="3657600"/>
          </a:xfrm>
          <a:prstGeom prst="round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2560320"/>
            <a:ext cx="868680" cy="868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39" y="3657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Personne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42976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6B6D4"/>
                </a:solidFill>
              </a:rPr>
              <a:t>Frontend &amp;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493776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</a:rPr>
              <a:t>Figma · UI/UX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2697480" cy="3657600"/>
          </a:xfrm>
          <a:prstGeom prst="round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0" y="2560320"/>
            <a:ext cx="868680" cy="868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Personne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976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6B6D4"/>
                </a:solidFill>
              </a:rPr>
              <a:t>Code &amp; Qualité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93776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</a:rPr>
              <a:t>Tests · GitHub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59" y="2286000"/>
            <a:ext cx="2697480" cy="3657600"/>
          </a:xfrm>
          <a:prstGeom prst="round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95559" y="2560320"/>
            <a:ext cx="868680" cy="8686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36576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Personne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42976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6B6D4"/>
                </a:solidFill>
              </a:rPr>
              <a:t>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59" y="493776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</a:rPr>
              <a:t>Rapport · Annexes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6B6D4"/>
                </a:solidFill>
              </a:rPr>
              <a:t>Levée de fonds 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</a:rPr>
              <a:t>800 000 €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6B6D4"/>
                </a:solidFill>
              </a:rPr>
              <a:t>500 k€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Équipe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</a:rPr>
              <a:t>62,5 %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41148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6B6D4"/>
                </a:solidFill>
              </a:rPr>
              <a:t>150 k€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47548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52120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</a:rPr>
              <a:t>18,75 %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6B6D4"/>
                </a:solidFill>
              </a:rPr>
              <a:t>80 k€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Infra +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2120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</a:rPr>
              <a:t>10 %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59" y="41148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6B6D4"/>
                </a:solidFill>
              </a:rPr>
              <a:t>70 k€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47548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Juridique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5212080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</a:rPr>
              <a:t>8,75 %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6B6D4"/>
                </a:solidFill>
              </a:rPr>
              <a:t>Objectif : atteindre 150 clients et 900 k€ de CA en 36 mois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>
                <a:solidFill>
                  <a:srgbClr val="06B6D4"/>
                </a:solidFill>
              </a:rPr>
              <a:t>Merci.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</a:rPr>
              <a:t>🔗 github.com/abdoul-latif-dev/cybercopilot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</a:rPr>
              <a:t>📧 latif.sibrahim@ece.fr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